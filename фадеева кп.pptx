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nantason ExtraExpanded Bold" charset="1" panose="00000000000000000000"/>
      <p:regular r:id="rId16"/>
    </p:embeddedFont>
    <p:embeddedFont>
      <p:font typeface="Montserrat" charset="1" panose="00000500000000000000"/>
      <p:regular r:id="rId17"/>
    </p:embeddedFont>
    <p:embeddedFont>
      <p:font typeface="Montserrat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11" Target="../media/image37.png" Type="http://schemas.openxmlformats.org/officeDocument/2006/relationships/image"/><Relationship Id="rId12" Target="../media/image38.sv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7616" y="3024937"/>
            <a:ext cx="15741684" cy="4855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7"/>
              </a:lnSpc>
            </a:pPr>
            <a:r>
              <a:rPr lang="en-US" b="true" sz="8410" spc="479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РАЗРАБОТКА ВЕБ-САЙТА</a:t>
            </a:r>
          </a:p>
          <a:p>
            <a:pPr algn="ctr">
              <a:lnSpc>
                <a:spcPts val="7317"/>
              </a:lnSpc>
            </a:pPr>
            <a:r>
              <a:rPr lang="en-US" b="true" sz="8410" spc="479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«УСЛУГИ ПО ВЕДЕНИЮ</a:t>
            </a:r>
            <a:r>
              <a:rPr lang="en-US" b="true" sz="8410" spc="479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 БУХГАЛТЕРСКОГО УЧЁТА»</a:t>
            </a:r>
          </a:p>
          <a:p>
            <a:pPr algn="ctr">
              <a:lnSpc>
                <a:spcPts val="1433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998963" y="6468057"/>
            <a:ext cx="582124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Студент группы ИСПП-35: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8963" y="7271020"/>
            <a:ext cx="336448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Руководитель: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37295" y="6468057"/>
            <a:ext cx="678207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Фадеева Алина Алексеевна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46977" y="165136"/>
            <a:ext cx="13499746" cy="2602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8"/>
              </a:lnSpc>
            </a:pPr>
            <a:r>
              <a:rPr lang="en-US" b="true" sz="2157" spc="-43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ФЕДЕРАЛЬНОЕ ГОСУДАРСТВЕННОЕ БЮДЖЕТНОЕ ОБРАЗОВАТЕЛЬНОЕ</a:t>
            </a:r>
            <a:r>
              <a:rPr lang="en-US" b="true" sz="2157" spc="-43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ctr">
              <a:lnSpc>
                <a:spcPts val="2588"/>
              </a:lnSpc>
            </a:pPr>
            <a:r>
              <a:rPr lang="en-US" b="true" sz="2157" spc="-43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УЧРЕЖДЕНИЕ ВЫСШЕГО ОБРАЗОВАНИЯ </a:t>
            </a:r>
          </a:p>
          <a:p>
            <a:pPr algn="ctr">
              <a:lnSpc>
                <a:spcPts val="2588"/>
              </a:lnSpc>
            </a:pPr>
            <a:r>
              <a:rPr lang="en-US" b="true" sz="2157" spc="-43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«САНКТ-ПЕТЕРБУРГСКИЙ ГОСУДАРСТВЕННЫЙ</a:t>
            </a:r>
            <a:r>
              <a:rPr lang="en-US" b="true" sz="2157" spc="-43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УНИВЕРСИТЕТ </a:t>
            </a:r>
          </a:p>
          <a:p>
            <a:pPr algn="ctr">
              <a:lnSpc>
                <a:spcPts val="2588"/>
              </a:lnSpc>
            </a:pPr>
            <a:r>
              <a:rPr lang="en-US" b="true" sz="2157" spc="-43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ТЕЛЕКОММУНИКАЦИЙ ИМ. ПРОФ. М.А. БОНЧ-БРУЕВИЧА» (СПбГУТ) </a:t>
            </a:r>
          </a:p>
          <a:p>
            <a:pPr algn="ctr">
              <a:lnSpc>
                <a:spcPts val="2588"/>
              </a:lnSpc>
            </a:pPr>
            <a:r>
              <a:rPr lang="en-US" b="true" sz="2157" spc="-43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ctr">
              <a:lnSpc>
                <a:spcPts val="2588"/>
              </a:lnSpc>
            </a:pPr>
            <a:r>
              <a:rPr lang="en-US" b="true" sz="2157" spc="-43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АРХАНГЕЛЬСКИЙ КОЛЛЕДЖ ТЕЛЕКОММУНИКАЦИЙ </a:t>
            </a:r>
          </a:p>
          <a:p>
            <a:pPr algn="ctr">
              <a:lnSpc>
                <a:spcPts val="2588"/>
              </a:lnSpc>
            </a:pPr>
            <a:r>
              <a:rPr lang="en-US" b="true" sz="2157" spc="-43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ИМ. Б.Л. РОЗИНГА (ФИЛИАЛ) СПбГУТ (АКТ (ф) СПбГУТ) </a:t>
            </a:r>
          </a:p>
          <a:p>
            <a:pPr algn="ctr">
              <a:lnSpc>
                <a:spcPts val="258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413172" y="7271020"/>
            <a:ext cx="627366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spc="-67" b="true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Маломан Юлия Сергеевна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63296" y="9431459"/>
            <a:ext cx="359782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b="true" sz="2400" spc="-48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Архангельск 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46158" y="8944775"/>
            <a:ext cx="191614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b="true" sz="2100" spc="-42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Страница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67733" y="2530682"/>
            <a:ext cx="1863251" cy="1880345"/>
          </a:xfrm>
          <a:custGeom>
            <a:avLst/>
            <a:gdLst/>
            <a:ahLst/>
            <a:cxnLst/>
            <a:rect r="r" b="b" t="t" l="l"/>
            <a:pathLst>
              <a:path h="1880345" w="1863251">
                <a:moveTo>
                  <a:pt x="0" y="0"/>
                </a:moveTo>
                <a:lnTo>
                  <a:pt x="1863251" y="0"/>
                </a:lnTo>
                <a:lnTo>
                  <a:pt x="1863251" y="1880344"/>
                </a:lnTo>
                <a:lnTo>
                  <a:pt x="0" y="1880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58375" y="2530682"/>
            <a:ext cx="2241040" cy="2016936"/>
          </a:xfrm>
          <a:custGeom>
            <a:avLst/>
            <a:gdLst/>
            <a:ahLst/>
            <a:cxnLst/>
            <a:rect r="r" b="b" t="t" l="l"/>
            <a:pathLst>
              <a:path h="2016936" w="2241040">
                <a:moveTo>
                  <a:pt x="0" y="0"/>
                </a:moveTo>
                <a:lnTo>
                  <a:pt x="2241040" y="0"/>
                </a:lnTo>
                <a:lnTo>
                  <a:pt x="2241040" y="2016936"/>
                </a:lnTo>
                <a:lnTo>
                  <a:pt x="0" y="201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55754" y="2417808"/>
            <a:ext cx="2296975" cy="2242683"/>
          </a:xfrm>
          <a:custGeom>
            <a:avLst/>
            <a:gdLst/>
            <a:ahLst/>
            <a:cxnLst/>
            <a:rect r="r" b="b" t="t" l="l"/>
            <a:pathLst>
              <a:path h="2242683" w="2296975">
                <a:moveTo>
                  <a:pt x="0" y="0"/>
                </a:moveTo>
                <a:lnTo>
                  <a:pt x="2296975" y="0"/>
                </a:lnTo>
                <a:lnTo>
                  <a:pt x="2296975" y="2242683"/>
                </a:lnTo>
                <a:lnTo>
                  <a:pt x="0" y="22426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81022" y="5663053"/>
            <a:ext cx="1944033" cy="2040493"/>
          </a:xfrm>
          <a:custGeom>
            <a:avLst/>
            <a:gdLst/>
            <a:ahLst/>
            <a:cxnLst/>
            <a:rect r="r" b="b" t="t" l="l"/>
            <a:pathLst>
              <a:path h="2040493" w="1944033">
                <a:moveTo>
                  <a:pt x="0" y="0"/>
                </a:moveTo>
                <a:lnTo>
                  <a:pt x="1944033" y="0"/>
                </a:lnTo>
                <a:lnTo>
                  <a:pt x="1944033" y="2040493"/>
                </a:lnTo>
                <a:lnTo>
                  <a:pt x="0" y="20404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938315" y="5489289"/>
            <a:ext cx="2194128" cy="2214258"/>
          </a:xfrm>
          <a:custGeom>
            <a:avLst/>
            <a:gdLst/>
            <a:ahLst/>
            <a:cxnLst/>
            <a:rect r="r" b="b" t="t" l="l"/>
            <a:pathLst>
              <a:path h="2214258" w="2194128">
                <a:moveTo>
                  <a:pt x="0" y="0"/>
                </a:moveTo>
                <a:lnTo>
                  <a:pt x="2194128" y="0"/>
                </a:lnTo>
                <a:lnTo>
                  <a:pt x="2194128" y="2214257"/>
                </a:lnTo>
                <a:lnTo>
                  <a:pt x="0" y="22142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6073" y="7863763"/>
            <a:ext cx="1055802" cy="2222742"/>
          </a:xfrm>
          <a:custGeom>
            <a:avLst/>
            <a:gdLst/>
            <a:ahLst/>
            <a:cxnLst/>
            <a:rect r="r" b="b" t="t" l="l"/>
            <a:pathLst>
              <a:path h="2222742" w="1055802">
                <a:moveTo>
                  <a:pt x="0" y="0"/>
                </a:moveTo>
                <a:lnTo>
                  <a:pt x="1055802" y="0"/>
                </a:lnTo>
                <a:lnTo>
                  <a:pt x="1055802" y="2222742"/>
                </a:lnTo>
                <a:lnTo>
                  <a:pt x="0" y="222274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12676" y="4691503"/>
            <a:ext cx="4773365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true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Автоматизация учёта заявок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652508" y="4681978"/>
            <a:ext cx="6315168" cy="1421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</a:pPr>
            <a:r>
              <a:rPr lang="en-US" b="true" sz="3099" spc="-61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Взаимодействие клиентов и мастеров</a:t>
            </a:r>
          </a:p>
          <a:p>
            <a:pPr algn="l">
              <a:lnSpc>
                <a:spcPts val="371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758749" y="8975134"/>
            <a:ext cx="195505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b="true" sz="2100" spc="-42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Страница 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4301" y="7846421"/>
            <a:ext cx="515254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 spc="-64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Ускорение обработки обращений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354910" y="999655"/>
            <a:ext cx="14658634" cy="15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0"/>
              </a:lnSpc>
            </a:pPr>
            <a:r>
              <a:rPr lang="en-US" b="true" sz="12667" spc="-253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Актуальность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06674" y="4691503"/>
            <a:ext cx="415262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3200" spc="-64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Упорядоченное хранение данных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22219" y="7846421"/>
            <a:ext cx="506164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3200" spc="-64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Исключение ручного ввода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18628" y="2869290"/>
            <a:ext cx="4048169" cy="4048169"/>
          </a:xfrm>
          <a:custGeom>
            <a:avLst/>
            <a:gdLst/>
            <a:ahLst/>
            <a:cxnLst/>
            <a:rect r="r" b="b" t="t" l="l"/>
            <a:pathLst>
              <a:path h="4048169" w="4048169">
                <a:moveTo>
                  <a:pt x="0" y="0"/>
                </a:moveTo>
                <a:lnTo>
                  <a:pt x="4048169" y="0"/>
                </a:lnTo>
                <a:lnTo>
                  <a:pt x="4048169" y="4048170"/>
                </a:lnTo>
                <a:lnTo>
                  <a:pt x="0" y="4048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74689" y="2869290"/>
            <a:ext cx="4551633" cy="4048169"/>
          </a:xfrm>
          <a:custGeom>
            <a:avLst/>
            <a:gdLst/>
            <a:ahLst/>
            <a:cxnLst/>
            <a:rect r="r" b="b" t="t" l="l"/>
            <a:pathLst>
              <a:path h="4048169" w="4551633">
                <a:moveTo>
                  <a:pt x="0" y="0"/>
                </a:moveTo>
                <a:lnTo>
                  <a:pt x="4551633" y="0"/>
                </a:lnTo>
                <a:lnTo>
                  <a:pt x="4551633" y="4048170"/>
                </a:lnTo>
                <a:lnTo>
                  <a:pt x="0" y="40481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27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9215" y="2869290"/>
            <a:ext cx="4051520" cy="4051520"/>
          </a:xfrm>
          <a:custGeom>
            <a:avLst/>
            <a:gdLst/>
            <a:ahLst/>
            <a:cxnLst/>
            <a:rect r="r" b="b" t="t" l="l"/>
            <a:pathLst>
              <a:path h="4051520" w="4051520">
                <a:moveTo>
                  <a:pt x="0" y="0"/>
                </a:moveTo>
                <a:lnTo>
                  <a:pt x="4051520" y="0"/>
                </a:lnTo>
                <a:lnTo>
                  <a:pt x="4051520" y="4051520"/>
                </a:lnTo>
                <a:lnTo>
                  <a:pt x="0" y="4051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015897"/>
            <a:ext cx="4091693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true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Бухгалтеры и консультанты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173468" y="7173060"/>
            <a:ext cx="4955317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 spc="-64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ИП и физические лица</a:t>
            </a:r>
          </a:p>
          <a:p>
            <a:pPr algn="ctr">
              <a:lnSpc>
                <a:spcPts val="38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5191650" y="8944775"/>
            <a:ext cx="20676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b="true" sz="2100" spc="-42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Страница 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12019" y="6917460"/>
            <a:ext cx="4667734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 spc="-64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Руководители и владельцы малого/среднего бизнеса</a:t>
            </a:r>
          </a:p>
          <a:p>
            <a:pPr algn="ctr">
              <a:lnSpc>
                <a:spcPts val="38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59215" y="871571"/>
            <a:ext cx="16469528" cy="15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0"/>
              </a:lnSpc>
            </a:pPr>
            <a:r>
              <a:rPr lang="en-US" b="true" sz="12667" spc="-253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Целевая аудитория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7640" y="2644588"/>
            <a:ext cx="5416755" cy="7222340"/>
          </a:xfrm>
          <a:custGeom>
            <a:avLst/>
            <a:gdLst/>
            <a:ahLst/>
            <a:cxnLst/>
            <a:rect r="r" b="b" t="t" l="l"/>
            <a:pathLst>
              <a:path h="7222340" w="5416755">
                <a:moveTo>
                  <a:pt x="0" y="0"/>
                </a:moveTo>
                <a:lnTo>
                  <a:pt x="5416755" y="0"/>
                </a:lnTo>
                <a:lnTo>
                  <a:pt x="5416755" y="7222340"/>
                </a:lnTo>
                <a:lnTo>
                  <a:pt x="0" y="7222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67784" y="531039"/>
            <a:ext cx="9658132" cy="15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0"/>
              </a:lnSpc>
            </a:pPr>
            <a:r>
              <a:rPr lang="en-US" b="true" sz="12667" spc="-253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Цель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994697" y="8944775"/>
            <a:ext cx="226460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b="true" sz="2100" spc="-42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Страница 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62062" y="2207266"/>
            <a:ext cx="1162766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b="true" sz="4199" spc="-83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Разработка веб-сайта с возможностями: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14893" y="3204716"/>
            <a:ext cx="11144407" cy="471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9385" indent="-464692" lvl="1">
              <a:lnSpc>
                <a:spcPts val="6241"/>
              </a:lnSpc>
              <a:buAutoNum type="arabicPeriod" startAt="1"/>
            </a:pPr>
            <a:r>
              <a:rPr lang="en-US" sz="4304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Добавлять и редактировать заявки</a:t>
            </a:r>
          </a:p>
          <a:p>
            <a:pPr algn="l" marL="929385" indent="-464692" lvl="1">
              <a:lnSpc>
                <a:spcPts val="6241"/>
              </a:lnSpc>
              <a:buAutoNum type="arabicPeriod" startAt="1"/>
            </a:pPr>
            <a:r>
              <a:rPr lang="en-US" sz="4304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Управлять списком услуг</a:t>
            </a:r>
          </a:p>
          <a:p>
            <a:pPr algn="l" marL="929385" indent="-464692" lvl="1">
              <a:lnSpc>
                <a:spcPts val="6241"/>
              </a:lnSpc>
              <a:buAutoNum type="arabicPeriod" startAt="1"/>
            </a:pPr>
            <a:r>
              <a:rPr lang="en-US" sz="4304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Формирование и экспорт отчётов в Excel/CSV</a:t>
            </a:r>
          </a:p>
          <a:p>
            <a:pPr algn="l" marL="929385" indent="-464692" lvl="1">
              <a:lnSpc>
                <a:spcPts val="6241"/>
              </a:lnSpc>
              <a:buAutoNum type="arabicPeriod" startAt="1"/>
            </a:pPr>
            <a:r>
              <a:rPr lang="en-US" sz="4304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Просматривать детальную информацию о заявках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264868" y="2207266"/>
            <a:ext cx="11691343" cy="619125"/>
            <a:chOff x="0" y="0"/>
            <a:chExt cx="3079201" cy="1630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79201" cy="163062"/>
            </a:xfrm>
            <a:custGeom>
              <a:avLst/>
              <a:gdLst/>
              <a:ahLst/>
              <a:cxnLst/>
              <a:rect r="r" b="b" t="t" l="l"/>
              <a:pathLst>
                <a:path h="163062" w="3079201">
                  <a:moveTo>
                    <a:pt x="0" y="0"/>
                  </a:moveTo>
                  <a:lnTo>
                    <a:pt x="3079201" y="0"/>
                  </a:lnTo>
                  <a:lnTo>
                    <a:pt x="3079201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4232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079201" cy="163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46158" y="8944775"/>
            <a:ext cx="205249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b="true" sz="2100" spc="-42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Страница 05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69249"/>
            <a:ext cx="16230600" cy="15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0"/>
              </a:lnSpc>
            </a:pPr>
            <a:r>
              <a:rPr lang="en-US" b="true" sz="12667" spc="-253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Задачи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9747" y="2889043"/>
            <a:ext cx="5526974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spc="-56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Исследовать предметную область и требования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0219" y="2266950"/>
            <a:ext cx="271406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3600" spc="-72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01. Анализ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69408" y="2352339"/>
            <a:ext cx="502924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 spc="-72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03. Разработка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36544" y="2911733"/>
            <a:ext cx="4814912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spc="-55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Спроектировать архитектуру, структуру БД и интерфейсы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29375" y="2266950"/>
            <a:ext cx="502924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 spc="-72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02. Проектирование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83745" y="2990514"/>
            <a:ext cx="4814912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spc="-55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backend и frontend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1550" y="6222994"/>
            <a:ext cx="5526974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spc="-56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аутентификацию и подключение БД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1185" y="5417957"/>
            <a:ext cx="432409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 spc="-72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04. Интеграция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29375" y="6065657"/>
            <a:ext cx="5526974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spc="-56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Функциональное и интеграционное тестирование основных сценариев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56179" y="5417957"/>
            <a:ext cx="432409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 spc="-72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05. Тестирование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35695" y="5417957"/>
            <a:ext cx="609667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 spc="-72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06. Документирование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27714" y="6056132"/>
            <a:ext cx="5526974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spc="-56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Пользовательская инструкция, пояснительная записка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24277" y="8401850"/>
            <a:ext cx="644513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 spc="-72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07. Ввод в эксплуатацию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2704" y="3508691"/>
            <a:ext cx="2809710" cy="1746577"/>
          </a:xfrm>
          <a:custGeom>
            <a:avLst/>
            <a:gdLst/>
            <a:ahLst/>
            <a:cxnLst/>
            <a:rect r="r" b="b" t="t" l="l"/>
            <a:pathLst>
              <a:path h="1746577" w="2809710">
                <a:moveTo>
                  <a:pt x="0" y="0"/>
                </a:moveTo>
                <a:lnTo>
                  <a:pt x="2809711" y="0"/>
                </a:lnTo>
                <a:lnTo>
                  <a:pt x="2809711" y="1746577"/>
                </a:lnTo>
                <a:lnTo>
                  <a:pt x="0" y="17465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08053" y="3508691"/>
            <a:ext cx="1519288" cy="1679161"/>
          </a:xfrm>
          <a:custGeom>
            <a:avLst/>
            <a:gdLst/>
            <a:ahLst/>
            <a:cxnLst/>
            <a:rect r="r" b="b" t="t" l="l"/>
            <a:pathLst>
              <a:path h="1679161" w="1519288">
                <a:moveTo>
                  <a:pt x="0" y="0"/>
                </a:moveTo>
                <a:lnTo>
                  <a:pt x="1519288" y="0"/>
                </a:lnTo>
                <a:lnTo>
                  <a:pt x="1519288" y="1679161"/>
                </a:lnTo>
                <a:lnTo>
                  <a:pt x="0" y="16791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0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65788" y="3358039"/>
            <a:ext cx="3966841" cy="2047881"/>
          </a:xfrm>
          <a:custGeom>
            <a:avLst/>
            <a:gdLst/>
            <a:ahLst/>
            <a:cxnLst/>
            <a:rect r="r" b="b" t="t" l="l"/>
            <a:pathLst>
              <a:path h="2047881" w="3966841">
                <a:moveTo>
                  <a:pt x="0" y="0"/>
                </a:moveTo>
                <a:lnTo>
                  <a:pt x="3966840" y="0"/>
                </a:lnTo>
                <a:lnTo>
                  <a:pt x="3966840" y="2047882"/>
                </a:lnTo>
                <a:lnTo>
                  <a:pt x="0" y="2047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66256" y="3698219"/>
            <a:ext cx="5084738" cy="1557049"/>
          </a:xfrm>
          <a:custGeom>
            <a:avLst/>
            <a:gdLst/>
            <a:ahLst/>
            <a:cxnLst/>
            <a:rect r="r" b="b" t="t" l="l"/>
            <a:pathLst>
              <a:path h="1557049" w="5084738">
                <a:moveTo>
                  <a:pt x="0" y="0"/>
                </a:moveTo>
                <a:lnTo>
                  <a:pt x="5084738" y="0"/>
                </a:lnTo>
                <a:lnTo>
                  <a:pt x="5084738" y="1557049"/>
                </a:lnTo>
                <a:lnTo>
                  <a:pt x="0" y="15570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2565" y="7111403"/>
            <a:ext cx="1950264" cy="1950264"/>
          </a:xfrm>
          <a:custGeom>
            <a:avLst/>
            <a:gdLst/>
            <a:ahLst/>
            <a:cxnLst/>
            <a:rect r="r" b="b" t="t" l="l"/>
            <a:pathLst>
              <a:path h="1950264" w="1950264">
                <a:moveTo>
                  <a:pt x="0" y="0"/>
                </a:moveTo>
                <a:lnTo>
                  <a:pt x="1950264" y="0"/>
                </a:lnTo>
                <a:lnTo>
                  <a:pt x="1950264" y="1950264"/>
                </a:lnTo>
                <a:lnTo>
                  <a:pt x="0" y="19502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8250" y="7063048"/>
            <a:ext cx="1998619" cy="1998619"/>
          </a:xfrm>
          <a:custGeom>
            <a:avLst/>
            <a:gdLst/>
            <a:ahLst/>
            <a:cxnLst/>
            <a:rect r="r" b="b" t="t" l="l"/>
            <a:pathLst>
              <a:path h="1998619" w="1998619">
                <a:moveTo>
                  <a:pt x="0" y="0"/>
                </a:moveTo>
                <a:lnTo>
                  <a:pt x="1998619" y="0"/>
                </a:lnTo>
                <a:lnTo>
                  <a:pt x="1998619" y="1998619"/>
                </a:lnTo>
                <a:lnTo>
                  <a:pt x="0" y="19986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35002" y="7035203"/>
            <a:ext cx="1849761" cy="1849761"/>
          </a:xfrm>
          <a:custGeom>
            <a:avLst/>
            <a:gdLst/>
            <a:ahLst/>
            <a:cxnLst/>
            <a:rect r="r" b="b" t="t" l="l"/>
            <a:pathLst>
              <a:path h="1849761" w="1849761">
                <a:moveTo>
                  <a:pt x="0" y="0"/>
                </a:moveTo>
                <a:lnTo>
                  <a:pt x="1849761" y="0"/>
                </a:lnTo>
                <a:lnTo>
                  <a:pt x="1849761" y="1849761"/>
                </a:lnTo>
                <a:lnTo>
                  <a:pt x="0" y="18497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89297" y="6934561"/>
            <a:ext cx="2010214" cy="2010214"/>
          </a:xfrm>
          <a:custGeom>
            <a:avLst/>
            <a:gdLst/>
            <a:ahLst/>
            <a:cxnLst/>
            <a:rect r="r" b="b" t="t" l="l"/>
            <a:pathLst>
              <a:path h="2010214" w="2010214">
                <a:moveTo>
                  <a:pt x="0" y="0"/>
                </a:moveTo>
                <a:lnTo>
                  <a:pt x="2010214" y="0"/>
                </a:lnTo>
                <a:lnTo>
                  <a:pt x="2010214" y="2010214"/>
                </a:lnTo>
                <a:lnTo>
                  <a:pt x="0" y="20102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049943" y="6911378"/>
            <a:ext cx="2658587" cy="2273092"/>
          </a:xfrm>
          <a:custGeom>
            <a:avLst/>
            <a:gdLst/>
            <a:ahLst/>
            <a:cxnLst/>
            <a:rect r="r" b="b" t="t" l="l"/>
            <a:pathLst>
              <a:path h="2273092" w="2658587">
                <a:moveTo>
                  <a:pt x="0" y="0"/>
                </a:moveTo>
                <a:lnTo>
                  <a:pt x="2658587" y="0"/>
                </a:lnTo>
                <a:lnTo>
                  <a:pt x="2658587" y="2273092"/>
                </a:lnTo>
                <a:lnTo>
                  <a:pt x="0" y="22730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815596" y="9383509"/>
            <a:ext cx="203456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b="true" sz="2100" spc="-42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Страница 06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556547" y="617088"/>
            <a:ext cx="19611509" cy="15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0"/>
              </a:lnSpc>
            </a:pPr>
            <a:r>
              <a:rPr lang="en-US" b="true" sz="12667" spc="-253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Средства разработки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4189" y="2810009"/>
            <a:ext cx="4941094" cy="42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2"/>
              </a:lnSpc>
            </a:pPr>
            <a:r>
              <a:rPr lang="en-US" b="true" sz="3600" spc="-72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Аутентификация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2390" y="2877622"/>
            <a:ext cx="5932425" cy="42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2"/>
              </a:lnSpc>
            </a:pPr>
            <a:r>
              <a:rPr lang="en-US" b="true" sz="3600" spc="-72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Язык/платформа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35002" y="2810009"/>
            <a:ext cx="4217997" cy="42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2"/>
              </a:lnSpc>
            </a:pPr>
            <a:r>
              <a:rPr lang="en-US" b="true" sz="3600" spc="-72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База данных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2704" y="6484277"/>
            <a:ext cx="5932425" cy="42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2"/>
              </a:lnSpc>
            </a:pPr>
            <a:r>
              <a:rPr lang="en-US" b="true" sz="3600" spc="-72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Библиотеки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23084" y="6484277"/>
            <a:ext cx="5932425" cy="42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2"/>
              </a:lnSpc>
            </a:pPr>
            <a:r>
              <a:rPr lang="en-US" b="true" sz="3600" spc="-72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IDE/инструменты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50759" y="6484277"/>
            <a:ext cx="5932425" cy="42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2"/>
              </a:lnSpc>
            </a:pPr>
            <a:r>
              <a:rPr lang="en-US" b="true" sz="3600" spc="-72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Хостинг/контейнеры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77343" y="3658711"/>
            <a:ext cx="1582633" cy="1139496"/>
          </a:xfrm>
          <a:custGeom>
            <a:avLst/>
            <a:gdLst/>
            <a:ahLst/>
            <a:cxnLst/>
            <a:rect r="r" b="b" t="t" l="l"/>
            <a:pathLst>
              <a:path h="1139496" w="1582633">
                <a:moveTo>
                  <a:pt x="0" y="0"/>
                </a:moveTo>
                <a:lnTo>
                  <a:pt x="1582633" y="0"/>
                </a:lnTo>
                <a:lnTo>
                  <a:pt x="1582633" y="1139495"/>
                </a:lnTo>
                <a:lnTo>
                  <a:pt x="0" y="1139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30229" y="3702298"/>
            <a:ext cx="1582633" cy="1139496"/>
          </a:xfrm>
          <a:custGeom>
            <a:avLst/>
            <a:gdLst/>
            <a:ahLst/>
            <a:cxnLst/>
            <a:rect r="r" b="b" t="t" l="l"/>
            <a:pathLst>
              <a:path h="1139496" w="1582633">
                <a:moveTo>
                  <a:pt x="0" y="0"/>
                </a:moveTo>
                <a:lnTo>
                  <a:pt x="1582633" y="0"/>
                </a:lnTo>
                <a:lnTo>
                  <a:pt x="1582633" y="1139495"/>
                </a:lnTo>
                <a:lnTo>
                  <a:pt x="0" y="1139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556756"/>
            <a:ext cx="4171323" cy="3959289"/>
          </a:xfrm>
          <a:custGeom>
            <a:avLst/>
            <a:gdLst/>
            <a:ahLst/>
            <a:cxnLst/>
            <a:rect r="r" b="b" t="t" l="l"/>
            <a:pathLst>
              <a:path h="3959289" w="4171323">
                <a:moveTo>
                  <a:pt x="0" y="0"/>
                </a:moveTo>
                <a:lnTo>
                  <a:pt x="4171323" y="0"/>
                </a:lnTo>
                <a:lnTo>
                  <a:pt x="4171323" y="3959289"/>
                </a:lnTo>
                <a:lnTo>
                  <a:pt x="0" y="3959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80" r="0" b="-1673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206801" y="8944775"/>
            <a:ext cx="205249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b="true" sz="2100" spc="-42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Страница 07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42522" y="390525"/>
            <a:ext cx="13202956" cy="292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0"/>
              </a:lnSpc>
            </a:pPr>
            <a:r>
              <a:rPr lang="en-US" b="true" sz="12667" spc="-253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Архитектура системы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374" y="4060210"/>
            <a:ext cx="6300969" cy="381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3200" spc="-64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Razor Views + HTML/CSS/JS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16548" y="4088785"/>
            <a:ext cx="2757109" cy="499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sz="4199" spc="-83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ASP.NET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31494" y="4107835"/>
            <a:ext cx="3266239" cy="59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8"/>
              </a:lnSpc>
            </a:pPr>
            <a:r>
              <a:rPr lang="en-US" sz="4975" spc="-99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MySQL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7347" y="4943475"/>
            <a:ext cx="552697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spc="-56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Графический интерфейс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64545" y="4851318"/>
            <a:ext cx="552697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spc="-56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Серверное приложение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28862" y="4851318"/>
            <a:ext cx="450782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spc="-56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База данных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9776" y="390525"/>
            <a:ext cx="14066853" cy="292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0"/>
              </a:lnSpc>
            </a:pPr>
            <a:r>
              <a:rPr lang="en-US" b="true" sz="12667" spc="-253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Преимущества проекта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880436" y="3052657"/>
            <a:ext cx="2419648" cy="2252473"/>
          </a:xfrm>
          <a:custGeom>
            <a:avLst/>
            <a:gdLst/>
            <a:ahLst/>
            <a:cxnLst/>
            <a:rect r="r" b="b" t="t" l="l"/>
            <a:pathLst>
              <a:path h="2252473" w="2419648">
                <a:moveTo>
                  <a:pt x="0" y="0"/>
                </a:moveTo>
                <a:lnTo>
                  <a:pt x="2419648" y="0"/>
                </a:lnTo>
                <a:lnTo>
                  <a:pt x="2419648" y="2252473"/>
                </a:lnTo>
                <a:lnTo>
                  <a:pt x="0" y="22524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54257" y="3469027"/>
            <a:ext cx="2493472" cy="1836102"/>
          </a:xfrm>
          <a:custGeom>
            <a:avLst/>
            <a:gdLst/>
            <a:ahLst/>
            <a:cxnLst/>
            <a:rect r="r" b="b" t="t" l="l"/>
            <a:pathLst>
              <a:path h="1836102" w="2493472">
                <a:moveTo>
                  <a:pt x="0" y="0"/>
                </a:moveTo>
                <a:lnTo>
                  <a:pt x="2493473" y="0"/>
                </a:lnTo>
                <a:lnTo>
                  <a:pt x="2493473" y="1836103"/>
                </a:lnTo>
                <a:lnTo>
                  <a:pt x="0" y="1836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11681" y="3312201"/>
            <a:ext cx="1524414" cy="2090843"/>
          </a:xfrm>
          <a:custGeom>
            <a:avLst/>
            <a:gdLst/>
            <a:ahLst/>
            <a:cxnLst/>
            <a:rect r="r" b="b" t="t" l="l"/>
            <a:pathLst>
              <a:path h="2090843" w="1524414">
                <a:moveTo>
                  <a:pt x="0" y="0"/>
                </a:moveTo>
                <a:lnTo>
                  <a:pt x="1524415" y="0"/>
                </a:lnTo>
                <a:lnTo>
                  <a:pt x="1524415" y="2090843"/>
                </a:lnTo>
                <a:lnTo>
                  <a:pt x="0" y="20908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04946" y="6646797"/>
            <a:ext cx="1770629" cy="2130954"/>
          </a:xfrm>
          <a:custGeom>
            <a:avLst/>
            <a:gdLst/>
            <a:ahLst/>
            <a:cxnLst/>
            <a:rect r="r" b="b" t="t" l="l"/>
            <a:pathLst>
              <a:path h="2130954" w="1770629">
                <a:moveTo>
                  <a:pt x="0" y="0"/>
                </a:moveTo>
                <a:lnTo>
                  <a:pt x="1770628" y="0"/>
                </a:lnTo>
                <a:lnTo>
                  <a:pt x="1770628" y="2130954"/>
                </a:lnTo>
                <a:lnTo>
                  <a:pt x="0" y="21309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54257" y="6843167"/>
            <a:ext cx="2426442" cy="1738214"/>
          </a:xfrm>
          <a:custGeom>
            <a:avLst/>
            <a:gdLst/>
            <a:ahLst/>
            <a:cxnLst/>
            <a:rect r="r" b="b" t="t" l="l"/>
            <a:pathLst>
              <a:path h="1738214" w="2426442">
                <a:moveTo>
                  <a:pt x="0" y="0"/>
                </a:moveTo>
                <a:lnTo>
                  <a:pt x="2426442" y="0"/>
                </a:lnTo>
                <a:lnTo>
                  <a:pt x="2426442" y="1738215"/>
                </a:lnTo>
                <a:lnTo>
                  <a:pt x="0" y="17382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438160" y="6640664"/>
            <a:ext cx="2278468" cy="2346737"/>
          </a:xfrm>
          <a:custGeom>
            <a:avLst/>
            <a:gdLst/>
            <a:ahLst/>
            <a:cxnLst/>
            <a:rect r="r" b="b" t="t" l="l"/>
            <a:pathLst>
              <a:path h="2346737" w="2278468">
                <a:moveTo>
                  <a:pt x="0" y="0"/>
                </a:moveTo>
                <a:lnTo>
                  <a:pt x="2278468" y="0"/>
                </a:lnTo>
                <a:lnTo>
                  <a:pt x="2278468" y="2346737"/>
                </a:lnTo>
                <a:lnTo>
                  <a:pt x="0" y="234673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03578" y="5449015"/>
            <a:ext cx="477336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true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Централизованный учёт заявок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43410" y="5449015"/>
            <a:ext cx="6356412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b="true" sz="3199" spc="-63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Интуитивно понятный </a:t>
            </a:r>
          </a:p>
          <a:p>
            <a:pPr algn="ctr">
              <a:lnSpc>
                <a:spcPts val="3839"/>
              </a:lnSpc>
            </a:pPr>
            <a:r>
              <a:rPr lang="en-US" b="true" sz="3199" spc="-63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веб-интерфейс</a:t>
            </a:r>
          </a:p>
          <a:p>
            <a:pPr algn="l">
              <a:lnSpc>
                <a:spcPts val="383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324723" y="8932546"/>
            <a:ext cx="5152542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 spc="-64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Хранение данных и отчётность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47649" y="5669114"/>
            <a:ext cx="4894988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3200" spc="-64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Упрощение работы бухгалтеров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5302" y="9003983"/>
            <a:ext cx="506164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3200" spc="-64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Безопа</a:t>
            </a:r>
            <a:r>
              <a:rPr lang="en-US" b="true" sz="3200" spc="-64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сность и контроль доступа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34924" y="8932546"/>
            <a:ext cx="645307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3200" spc="-64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Повышение прозрачности оказания услуг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86609" y="8944775"/>
            <a:ext cx="217269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b="true" sz="2100" spc="-42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Страница 09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01391" y="675219"/>
            <a:ext cx="11885218" cy="153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0"/>
              </a:lnSpc>
            </a:pPr>
            <a:r>
              <a:rPr lang="en-US" b="true" sz="12667" spc="-253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Заключение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44430" y="2688764"/>
            <a:ext cx="14376032" cy="5763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2"/>
              </a:lnSpc>
            </a:pPr>
            <a:r>
              <a:rPr lang="en-US" sz="6335" b="true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Поставленная цель достигнута</a:t>
            </a:r>
            <a:r>
              <a:rPr lang="en-US" sz="6335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lang="en-US" sz="6335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6335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разработана и реализована подсистема веб-приложения для приёма и обработки заявок с админ-функционалом и необходимыми интеграциями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66138" y="6559627"/>
            <a:ext cx="3541383" cy="3541383"/>
          </a:xfrm>
          <a:custGeom>
            <a:avLst/>
            <a:gdLst/>
            <a:ahLst/>
            <a:cxnLst/>
            <a:rect r="r" b="b" t="t" l="l"/>
            <a:pathLst>
              <a:path h="3541383" w="3541383">
                <a:moveTo>
                  <a:pt x="0" y="0"/>
                </a:moveTo>
                <a:lnTo>
                  <a:pt x="3541384" y="0"/>
                </a:lnTo>
                <a:lnTo>
                  <a:pt x="3541384" y="3541384"/>
                </a:lnTo>
                <a:lnTo>
                  <a:pt x="0" y="3541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89481" y="3484856"/>
            <a:ext cx="8547028" cy="2802539"/>
          </a:xfrm>
          <a:custGeom>
            <a:avLst/>
            <a:gdLst/>
            <a:ahLst/>
            <a:cxnLst/>
            <a:rect r="r" b="b" t="t" l="l"/>
            <a:pathLst>
              <a:path h="2802539" w="8547028">
                <a:moveTo>
                  <a:pt x="0" y="0"/>
                </a:moveTo>
                <a:lnTo>
                  <a:pt x="8547028" y="0"/>
                </a:lnTo>
                <a:lnTo>
                  <a:pt x="8547028" y="2802539"/>
                </a:lnTo>
                <a:lnTo>
                  <a:pt x="0" y="2802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92" r="0" b="-89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89481" y="898554"/>
            <a:ext cx="8909038" cy="273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07"/>
              </a:lnSpc>
            </a:pPr>
            <a:r>
              <a:rPr lang="en-US" b="true" sz="11847" spc="-236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DAG6-LziUUo</dc:identifier>
  <dcterms:modified xsi:type="dcterms:W3CDTF">2011-08-01T06:04:30Z</dcterms:modified>
  <cp:revision>1</cp:revision>
  <dc:title>Liceria &amp; Co.</dc:title>
</cp:coreProperties>
</file>